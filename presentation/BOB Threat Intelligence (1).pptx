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uce Bold" charset="1" panose="00000800000000000000"/>
      <p:regular r:id="rId16"/>
    </p:embeddedFont>
    <p:embeddedFont>
      <p:font typeface="Open Sauce" charset="1" panose="00000500000000000000"/>
      <p:regular r:id="rId17"/>
    </p:embeddedFont>
    <p:embeddedFont>
      <p:font typeface="Open Sauce Medium" charset="1" panose="000006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15.pn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14" Target="../media/image28.png" Type="http://schemas.openxmlformats.org/officeDocument/2006/relationships/image"/><Relationship Id="rId15" Target="../media/image29.png" Type="http://schemas.openxmlformats.org/officeDocument/2006/relationships/image"/><Relationship Id="rId16" Target="../media/image30.png" Type="http://schemas.openxmlformats.org/officeDocument/2006/relationships/image"/><Relationship Id="rId17" Target="../media/image31.png" Type="http://schemas.openxmlformats.org/officeDocument/2006/relationships/image"/><Relationship Id="rId18" Target="../media/image32.png" Type="http://schemas.openxmlformats.org/officeDocument/2006/relationships/image"/><Relationship Id="rId19" Target="../media/image33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png" Type="http://schemas.openxmlformats.org/officeDocument/2006/relationships/image"/><Relationship Id="rId12" Target="../media/image43.png" Type="http://schemas.openxmlformats.org/officeDocument/2006/relationships/image"/><Relationship Id="rId13" Target="../media/image44.png" Type="http://schemas.openxmlformats.org/officeDocument/2006/relationships/image"/><Relationship Id="rId14" Target="../media/image45.png" Type="http://schemas.openxmlformats.org/officeDocument/2006/relationships/image"/><Relationship Id="rId2" Target="../media/image1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13" Target="../media/image56.png" Type="http://schemas.openxmlformats.org/officeDocument/2006/relationships/image"/><Relationship Id="rId14" Target="../media/image57.png" Type="http://schemas.openxmlformats.org/officeDocument/2006/relationships/image"/><Relationship Id="rId15" Target="../media/image58.png" Type="http://schemas.openxmlformats.org/officeDocument/2006/relationships/image"/><Relationship Id="rId16" Target="../media/image59.png" Type="http://schemas.openxmlformats.org/officeDocument/2006/relationships/image"/><Relationship Id="rId17" Target="../media/image60.png" Type="http://schemas.openxmlformats.org/officeDocument/2006/relationships/image"/><Relationship Id="rId18" Target="../media/image61.png" Type="http://schemas.openxmlformats.org/officeDocument/2006/relationships/image"/><Relationship Id="rId19" Target="../media/image62.png" Type="http://schemas.openxmlformats.org/officeDocument/2006/relationships/image"/><Relationship Id="rId2" Target="../media/image1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11" Target="../media/image71.png" Type="http://schemas.openxmlformats.org/officeDocument/2006/relationships/image"/><Relationship Id="rId12" Target="../media/image72.png" Type="http://schemas.openxmlformats.org/officeDocument/2006/relationships/image"/><Relationship Id="rId13" Target="../media/image73.png" Type="http://schemas.openxmlformats.org/officeDocument/2006/relationships/image"/><Relationship Id="rId14" Target="../media/image74.png" Type="http://schemas.openxmlformats.org/officeDocument/2006/relationships/image"/><Relationship Id="rId2" Target="../media/image1.pn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Relationship Id="rId7" Target="../media/image67.png" Type="http://schemas.openxmlformats.org/officeDocument/2006/relationships/image"/><Relationship Id="rId8" Target="../media/image68.pn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png" Type="http://schemas.openxmlformats.org/officeDocument/2006/relationships/image"/><Relationship Id="rId12" Target="../media/image85.png" Type="http://schemas.openxmlformats.org/officeDocument/2006/relationships/image"/><Relationship Id="rId13" Target="../media/image86.png" Type="http://schemas.openxmlformats.org/officeDocument/2006/relationships/image"/><Relationship Id="rId14" Target="../media/image87.png" Type="http://schemas.openxmlformats.org/officeDocument/2006/relationships/image"/><Relationship Id="rId15" Target="../media/image88.png" Type="http://schemas.openxmlformats.org/officeDocument/2006/relationships/image"/><Relationship Id="rId16" Target="../media/image89.png" Type="http://schemas.openxmlformats.org/officeDocument/2006/relationships/image"/><Relationship Id="rId17" Target="../media/image90.png" Type="http://schemas.openxmlformats.org/officeDocument/2006/relationships/image"/><Relationship Id="rId18" Target="../media/image91.png" Type="http://schemas.openxmlformats.org/officeDocument/2006/relationships/image"/><Relationship Id="rId2" Target="../media/image75.png" Type="http://schemas.openxmlformats.org/officeDocument/2006/relationships/image"/><Relationship Id="rId3" Target="../media/image76.png" Type="http://schemas.openxmlformats.org/officeDocument/2006/relationships/image"/><Relationship Id="rId4" Target="../media/image77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Relationship Id="rId9" Target="../media/image8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0.png" Type="http://schemas.openxmlformats.org/officeDocument/2006/relationships/image"/><Relationship Id="rId2" Target="../media/image92.png" Type="http://schemas.openxmlformats.org/officeDocument/2006/relationships/image"/><Relationship Id="rId3" Target="../media/image93.png" Type="http://schemas.openxmlformats.org/officeDocument/2006/relationships/image"/><Relationship Id="rId4" Target="../media/image94.png" Type="http://schemas.openxmlformats.org/officeDocument/2006/relationships/image"/><Relationship Id="rId5" Target="../media/image95.png" Type="http://schemas.openxmlformats.org/officeDocument/2006/relationships/image"/><Relationship Id="rId6" Target="../media/image96.png" Type="http://schemas.openxmlformats.org/officeDocument/2006/relationships/image"/><Relationship Id="rId7" Target="../media/image97.png" Type="http://schemas.openxmlformats.org/officeDocument/2006/relationships/image"/><Relationship Id="rId8" Target="../media/image98.png" Type="http://schemas.openxmlformats.org/officeDocument/2006/relationships/image"/><Relationship Id="rId9" Target="../media/image9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9.png" Type="http://schemas.openxmlformats.org/officeDocument/2006/relationships/image"/><Relationship Id="rId2" Target="../media/image101.png" Type="http://schemas.openxmlformats.org/officeDocument/2006/relationships/image"/><Relationship Id="rId3" Target="../media/image102.png" Type="http://schemas.openxmlformats.org/officeDocument/2006/relationships/image"/><Relationship Id="rId4" Target="../media/image103.png" Type="http://schemas.openxmlformats.org/officeDocument/2006/relationships/image"/><Relationship Id="rId5" Target="../media/image104.png" Type="http://schemas.openxmlformats.org/officeDocument/2006/relationships/image"/><Relationship Id="rId6" Target="../media/image105.png" Type="http://schemas.openxmlformats.org/officeDocument/2006/relationships/image"/><Relationship Id="rId7" Target="../media/image106.png" Type="http://schemas.openxmlformats.org/officeDocument/2006/relationships/image"/><Relationship Id="rId8" Target="../media/image107.png" Type="http://schemas.openxmlformats.org/officeDocument/2006/relationships/image"/><Relationship Id="rId9" Target="../media/image10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0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1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53850" y="1066800"/>
            <a:ext cx="5886450" cy="7934325"/>
          </a:xfrm>
          <a:custGeom>
            <a:avLst/>
            <a:gdLst/>
            <a:ahLst/>
            <a:cxnLst/>
            <a:rect r="r" b="b" t="t" l="l"/>
            <a:pathLst>
              <a:path h="7934325" w="5886450">
                <a:moveTo>
                  <a:pt x="0" y="0"/>
                </a:moveTo>
                <a:lnTo>
                  <a:pt x="5886450" y="0"/>
                </a:lnTo>
                <a:lnTo>
                  <a:pt x="5886450" y="7934325"/>
                </a:lnTo>
                <a:lnTo>
                  <a:pt x="0" y="7934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8096" y="2022481"/>
            <a:ext cx="5559552" cy="2367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4"/>
              </a:lnSpc>
            </a:pPr>
            <a:r>
              <a:rPr lang="en-US" sz="17824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BOB: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9536" y="4283012"/>
            <a:ext cx="9765792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4"/>
              </a:lnSpc>
            </a:pPr>
            <a:r>
              <a:rPr lang="en-US" sz="4987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Threat Intelligence Correlation &amp; Alert Prioritisation Assistant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9536" y="6165913"/>
            <a:ext cx="956462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309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Multi-Source Defense Threat Intelligence Platform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7286625"/>
            <a:ext cx="1971675" cy="219075"/>
          </a:xfrm>
          <a:custGeom>
            <a:avLst/>
            <a:gdLst/>
            <a:ahLst/>
            <a:cxnLst/>
            <a:rect r="r" b="b" t="t" l="l"/>
            <a:pathLst>
              <a:path h="219075" w="19716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9536" y="8090315"/>
            <a:ext cx="7022592" cy="124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6"/>
              </a:lnSpc>
            </a:pPr>
            <a:r>
              <a:rPr lang="en-US" sz="239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Team Name : Alpha Madrix</a:t>
            </a:r>
          </a:p>
          <a:p>
            <a:pPr algn="l">
              <a:lnSpc>
                <a:spcPts val="3356"/>
              </a:lnSpc>
            </a:pPr>
            <a:r>
              <a:rPr lang="en-US" sz="239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College Name :  Devang Patel Institute of Advance Research and Technology (DEPSTAR)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2688" y="1033653"/>
            <a:ext cx="693115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5936" spc="-178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6775" y="2352675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0976" y="3169476"/>
            <a:ext cx="4974336" cy="864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59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Thousands of alerts hit defence analysts every day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0976" y="4455351"/>
            <a:ext cx="5340096" cy="864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59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Data arrives from many sources in different formats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0976" y="5730939"/>
            <a:ext cx="4626864" cy="864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59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False positives consume time and resources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0976" y="7018196"/>
            <a:ext cx="4224528" cy="40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Real threats can be missed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0976" y="7860348"/>
            <a:ext cx="4681728" cy="864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59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Commanders need fast, clear BLUF summaries to 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36224" y="612571"/>
            <a:ext cx="3749040" cy="39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2"/>
              </a:lnSpc>
            </a:pPr>
            <a:r>
              <a:rPr lang="en-US" b="true" sz="23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THOUSANDS OF ALERTS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1280" y="1034763"/>
            <a:ext cx="5138928" cy="35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3"/>
              </a:lnSpc>
            </a:pPr>
            <a:r>
              <a:rPr lang="en-US" sz="207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Every day. Many sources. Many formats.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010775" y="1714500"/>
            <a:ext cx="447675" cy="857250"/>
          </a:xfrm>
          <a:custGeom>
            <a:avLst/>
            <a:gdLst/>
            <a:ahLst/>
            <a:cxnLst/>
            <a:rect r="r" b="b" t="t" l="l"/>
            <a:pathLst>
              <a:path h="857250" w="447675">
                <a:moveTo>
                  <a:pt x="0" y="0"/>
                </a:moveTo>
                <a:lnTo>
                  <a:pt x="447675" y="0"/>
                </a:lnTo>
                <a:lnTo>
                  <a:pt x="447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668000" y="1714500"/>
            <a:ext cx="438150" cy="857250"/>
          </a:xfrm>
          <a:custGeom>
            <a:avLst/>
            <a:gdLst/>
            <a:ahLst/>
            <a:cxnLst/>
            <a:rect r="r" b="b" t="t" l="l"/>
            <a:pathLst>
              <a:path h="857250" w="438150">
                <a:moveTo>
                  <a:pt x="0" y="0"/>
                </a:moveTo>
                <a:lnTo>
                  <a:pt x="438150" y="0"/>
                </a:lnTo>
                <a:lnTo>
                  <a:pt x="438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534775" y="1714500"/>
            <a:ext cx="447675" cy="857250"/>
          </a:xfrm>
          <a:custGeom>
            <a:avLst/>
            <a:gdLst/>
            <a:ahLst/>
            <a:cxnLst/>
            <a:rect r="r" b="b" t="t" l="l"/>
            <a:pathLst>
              <a:path h="857250" w="447675">
                <a:moveTo>
                  <a:pt x="0" y="0"/>
                </a:moveTo>
                <a:lnTo>
                  <a:pt x="447675" y="0"/>
                </a:lnTo>
                <a:lnTo>
                  <a:pt x="447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401550" y="1714500"/>
            <a:ext cx="447675" cy="857250"/>
          </a:xfrm>
          <a:custGeom>
            <a:avLst/>
            <a:gdLst/>
            <a:ahLst/>
            <a:cxnLst/>
            <a:rect r="r" b="b" t="t" l="l"/>
            <a:pathLst>
              <a:path h="857250" w="447675">
                <a:moveTo>
                  <a:pt x="0" y="0"/>
                </a:moveTo>
                <a:lnTo>
                  <a:pt x="447675" y="0"/>
                </a:lnTo>
                <a:lnTo>
                  <a:pt x="447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277850" y="1714500"/>
            <a:ext cx="438150" cy="857250"/>
          </a:xfrm>
          <a:custGeom>
            <a:avLst/>
            <a:gdLst/>
            <a:ahLst/>
            <a:cxnLst/>
            <a:rect r="r" b="b" t="t" l="l"/>
            <a:pathLst>
              <a:path h="857250" w="438150">
                <a:moveTo>
                  <a:pt x="0" y="0"/>
                </a:moveTo>
                <a:lnTo>
                  <a:pt x="438150" y="0"/>
                </a:lnTo>
                <a:lnTo>
                  <a:pt x="438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144625" y="1714500"/>
            <a:ext cx="228600" cy="857250"/>
          </a:xfrm>
          <a:custGeom>
            <a:avLst/>
            <a:gdLst/>
            <a:ahLst/>
            <a:cxnLst/>
            <a:rect r="r" b="b" t="t" l="l"/>
            <a:pathLst>
              <a:path h="857250" w="228600">
                <a:moveTo>
                  <a:pt x="0" y="0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801850" y="1714500"/>
            <a:ext cx="438150" cy="857250"/>
          </a:xfrm>
          <a:custGeom>
            <a:avLst/>
            <a:gdLst/>
            <a:ahLst/>
            <a:cxnLst/>
            <a:rect r="r" b="b" t="t" l="l"/>
            <a:pathLst>
              <a:path h="857250" w="438150">
                <a:moveTo>
                  <a:pt x="0" y="0"/>
                </a:moveTo>
                <a:lnTo>
                  <a:pt x="438150" y="0"/>
                </a:lnTo>
                <a:lnTo>
                  <a:pt x="438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668625" y="1924050"/>
            <a:ext cx="447675" cy="866775"/>
          </a:xfrm>
          <a:custGeom>
            <a:avLst/>
            <a:gdLst/>
            <a:ahLst/>
            <a:cxnLst/>
            <a:rect r="r" b="b" t="t" l="l"/>
            <a:pathLst>
              <a:path h="866775" w="447675">
                <a:moveTo>
                  <a:pt x="0" y="0"/>
                </a:moveTo>
                <a:lnTo>
                  <a:pt x="447675" y="0"/>
                </a:lnTo>
                <a:lnTo>
                  <a:pt x="447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353550" y="2571750"/>
            <a:ext cx="7200900" cy="5572125"/>
          </a:xfrm>
          <a:custGeom>
            <a:avLst/>
            <a:gdLst/>
            <a:ahLst/>
            <a:cxnLst/>
            <a:rect r="r" b="b" t="t" l="l"/>
            <a:pathLst>
              <a:path h="5572125" w="7200900">
                <a:moveTo>
                  <a:pt x="0" y="0"/>
                </a:moveTo>
                <a:lnTo>
                  <a:pt x="7200900" y="0"/>
                </a:lnTo>
                <a:lnTo>
                  <a:pt x="7200900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338560" y="3686169"/>
            <a:ext cx="3310128" cy="32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5"/>
              </a:lnSpc>
            </a:pPr>
            <a:r>
              <a:rPr lang="en-US" b="true" sz="19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OVERWHELMING VOLUME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95760" y="4868287"/>
            <a:ext cx="2487168" cy="67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b="true" sz="200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MANUAL ANALYSIS SLOWS TEAMS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87200" y="6276621"/>
            <a:ext cx="2231136" cy="65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b="true" sz="198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FALSE POSITIVES WASTE TIME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2839700" y="7924800"/>
            <a:ext cx="447675" cy="866775"/>
          </a:xfrm>
          <a:custGeom>
            <a:avLst/>
            <a:gdLst/>
            <a:ahLst/>
            <a:cxnLst/>
            <a:rect r="r" b="b" t="t" l="l"/>
            <a:pathLst>
              <a:path h="866775" w="447675">
                <a:moveTo>
                  <a:pt x="0" y="0"/>
                </a:moveTo>
                <a:lnTo>
                  <a:pt x="447675" y="0"/>
                </a:lnTo>
                <a:lnTo>
                  <a:pt x="447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484864" y="8969079"/>
            <a:ext cx="2999232" cy="374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6"/>
              </a:lnSpc>
            </a:pPr>
            <a:r>
              <a:rPr lang="en-US" b="true" sz="231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FEW REAL THREATS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81360" y="9396079"/>
            <a:ext cx="4187952" cy="28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b="true" sz="172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CRITICAL CONSEQUENCES IF MISSED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9808" y="712470"/>
            <a:ext cx="563270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14"/>
              </a:lnSpc>
            </a:pPr>
            <a:r>
              <a:rPr lang="en-US" sz="709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Our Solution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2143125"/>
            <a:ext cx="1533525" cy="219075"/>
          </a:xfrm>
          <a:custGeom>
            <a:avLst/>
            <a:gdLst/>
            <a:ahLst/>
            <a:cxnLst/>
            <a:rect r="r" b="b" t="t" l="l"/>
            <a:pathLst>
              <a:path h="219075" w="1533525">
                <a:moveTo>
                  <a:pt x="0" y="0"/>
                </a:moveTo>
                <a:lnTo>
                  <a:pt x="1533525" y="0"/>
                </a:lnTo>
                <a:lnTo>
                  <a:pt x="153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9808" y="3003232"/>
            <a:ext cx="4041648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Automatically ingests multiple threat intelligence feeds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9808" y="4243983"/>
            <a:ext cx="3913632" cy="82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Correlates related alerts and filters false positives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9808" y="5575340"/>
            <a:ext cx="3639312" cy="75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Maps attacks to</a:t>
            </a: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MITRE ATT&amp;CK techniques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9808" y="6861215"/>
            <a:ext cx="3328416" cy="75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Delivers prioritized BLUF investigation summaries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9808" y="8157020"/>
            <a:ext cx="3291840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Empowers commanders</a:t>
            </a:r>
          </a:p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focus on real threats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438775" y="2781300"/>
            <a:ext cx="2181225" cy="1295400"/>
          </a:xfrm>
          <a:custGeom>
            <a:avLst/>
            <a:gdLst/>
            <a:ahLst/>
            <a:cxnLst/>
            <a:rect r="r" b="b" t="t" l="l"/>
            <a:pathLst>
              <a:path h="1295400" w="2181225">
                <a:moveTo>
                  <a:pt x="0" y="0"/>
                </a:moveTo>
                <a:lnTo>
                  <a:pt x="2181225" y="0"/>
                </a:lnTo>
                <a:lnTo>
                  <a:pt x="21812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38775" y="4286250"/>
            <a:ext cx="2181225" cy="1285875"/>
          </a:xfrm>
          <a:custGeom>
            <a:avLst/>
            <a:gdLst/>
            <a:ahLst/>
            <a:cxnLst/>
            <a:rect r="r" b="b" t="t" l="l"/>
            <a:pathLst>
              <a:path h="1285875" w="2181225">
                <a:moveTo>
                  <a:pt x="0" y="0"/>
                </a:moveTo>
                <a:lnTo>
                  <a:pt x="2181225" y="0"/>
                </a:lnTo>
                <a:lnTo>
                  <a:pt x="2181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852160" y="4573155"/>
            <a:ext cx="1389888" cy="50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b="true" sz="148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SATELLITE INTELLIGENCE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438775" y="5572125"/>
            <a:ext cx="2181225" cy="1285875"/>
          </a:xfrm>
          <a:custGeom>
            <a:avLst/>
            <a:gdLst/>
            <a:ahLst/>
            <a:cxnLst/>
            <a:rect r="r" b="b" t="t" l="l"/>
            <a:pathLst>
              <a:path h="1285875" w="2181225">
                <a:moveTo>
                  <a:pt x="0" y="0"/>
                </a:moveTo>
                <a:lnTo>
                  <a:pt x="2181225" y="0"/>
                </a:lnTo>
                <a:lnTo>
                  <a:pt x="2181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035040" y="5965436"/>
            <a:ext cx="1024128" cy="55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b="true" sz="158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CYBER SENSORS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438775" y="7067550"/>
            <a:ext cx="2181225" cy="1295400"/>
          </a:xfrm>
          <a:custGeom>
            <a:avLst/>
            <a:gdLst/>
            <a:ahLst/>
            <a:cxnLst/>
            <a:rect r="r" b="b" t="t" l="l"/>
            <a:pathLst>
              <a:path h="1295400" w="2181225">
                <a:moveTo>
                  <a:pt x="0" y="0"/>
                </a:moveTo>
                <a:lnTo>
                  <a:pt x="2181225" y="0"/>
                </a:lnTo>
                <a:lnTo>
                  <a:pt x="21812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815584" y="7364468"/>
            <a:ext cx="1499616" cy="55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b="true" sz="158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INTELLIGENCE REPORTS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486775" y="4495800"/>
            <a:ext cx="2181225" cy="1933575"/>
          </a:xfrm>
          <a:custGeom>
            <a:avLst/>
            <a:gdLst/>
            <a:ahLst/>
            <a:cxnLst/>
            <a:rect r="r" b="b" t="t" l="l"/>
            <a:pathLst>
              <a:path h="1933575" w="2181225">
                <a:moveTo>
                  <a:pt x="0" y="0"/>
                </a:moveTo>
                <a:lnTo>
                  <a:pt x="2181225" y="0"/>
                </a:lnTo>
                <a:lnTo>
                  <a:pt x="2181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741664" y="5024694"/>
            <a:ext cx="1627632" cy="89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b="true" sz="176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BOB CORRELATION ENGINE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448925" y="5353050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877550" y="4495800"/>
            <a:ext cx="2190750" cy="1933575"/>
          </a:xfrm>
          <a:custGeom>
            <a:avLst/>
            <a:gdLst/>
            <a:ahLst/>
            <a:cxnLst/>
            <a:rect r="r" b="b" t="t" l="l"/>
            <a:pathLst>
              <a:path h="1933575" w="2190750">
                <a:moveTo>
                  <a:pt x="0" y="0"/>
                </a:moveTo>
                <a:lnTo>
                  <a:pt x="2190750" y="0"/>
                </a:lnTo>
                <a:lnTo>
                  <a:pt x="2190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448288" y="5024694"/>
            <a:ext cx="1078992" cy="89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b="true" sz="176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MITRE ATT&amp;CK MAPPING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839700" y="5353050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277850" y="4495800"/>
            <a:ext cx="2181225" cy="1933575"/>
          </a:xfrm>
          <a:custGeom>
            <a:avLst/>
            <a:gdLst/>
            <a:ahLst/>
            <a:cxnLst/>
            <a:rect r="r" b="b" t="t" l="l"/>
            <a:pathLst>
              <a:path h="1933575" w="2181225">
                <a:moveTo>
                  <a:pt x="0" y="0"/>
                </a:moveTo>
                <a:lnTo>
                  <a:pt x="2181225" y="0"/>
                </a:lnTo>
                <a:lnTo>
                  <a:pt x="2181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533120" y="4996922"/>
            <a:ext cx="1536192" cy="95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2"/>
              </a:lnSpc>
            </a:pPr>
            <a:r>
              <a:rPr lang="en-US" b="true" sz="182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BLUF SUMMARY GENERATION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240000" y="5353050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668625" y="4495800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5928848" y="5183267"/>
            <a:ext cx="1572768" cy="61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3"/>
              </a:lnSpc>
            </a:pPr>
            <a:r>
              <a:rPr lang="en-US" b="true" sz="178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COMMANDER DASHBOARD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7400925" y="3209925"/>
            <a:ext cx="876300" cy="1504950"/>
          </a:xfrm>
          <a:custGeom>
            <a:avLst/>
            <a:gdLst/>
            <a:ahLst/>
            <a:cxnLst/>
            <a:rect r="r" b="b" t="t" l="l"/>
            <a:pathLst>
              <a:path h="1504950" w="876300">
                <a:moveTo>
                  <a:pt x="0" y="0"/>
                </a:moveTo>
                <a:lnTo>
                  <a:pt x="876300" y="0"/>
                </a:lnTo>
                <a:lnTo>
                  <a:pt x="8763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400925" y="47148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400925" y="5353050"/>
            <a:ext cx="876300" cy="438150"/>
          </a:xfrm>
          <a:custGeom>
            <a:avLst/>
            <a:gdLst/>
            <a:ahLst/>
            <a:cxnLst/>
            <a:rect r="r" b="b" t="t" l="l"/>
            <a:pathLst>
              <a:path h="438150" w="87630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400925" y="557212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400925" y="6210300"/>
            <a:ext cx="876300" cy="1504950"/>
          </a:xfrm>
          <a:custGeom>
            <a:avLst/>
            <a:gdLst/>
            <a:ahLst/>
            <a:cxnLst/>
            <a:rect r="r" b="b" t="t" l="l"/>
            <a:pathLst>
              <a:path h="1504950" w="876300">
                <a:moveTo>
                  <a:pt x="0" y="0"/>
                </a:moveTo>
                <a:lnTo>
                  <a:pt x="876300" y="0"/>
                </a:lnTo>
                <a:lnTo>
                  <a:pt x="8763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6291072" y="3284911"/>
            <a:ext cx="512064" cy="27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b="true" sz="158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2064" y="906209"/>
            <a:ext cx="923544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0"/>
              </a:lnSpc>
            </a:pPr>
            <a:r>
              <a:rPr lang="en-US" sz="6108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How Our System Works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2143125"/>
            <a:ext cx="1971675" cy="428625"/>
          </a:xfrm>
          <a:custGeom>
            <a:avLst/>
            <a:gdLst/>
            <a:ahLst/>
            <a:cxnLst/>
            <a:rect r="r" b="b" t="t" l="l"/>
            <a:pathLst>
              <a:path h="428625" w="1971675">
                <a:moveTo>
                  <a:pt x="0" y="0"/>
                </a:moveTo>
                <a:lnTo>
                  <a:pt x="1971675" y="0"/>
                </a:lnTo>
                <a:lnTo>
                  <a:pt x="1971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8448" y="3140011"/>
            <a:ext cx="42062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4"/>
              </a:lnSpc>
            </a:pPr>
            <a:r>
              <a:rPr lang="en-US" sz="296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09550" y="3638550"/>
            <a:ext cx="2628900" cy="2362200"/>
          </a:xfrm>
          <a:custGeom>
            <a:avLst/>
            <a:gdLst/>
            <a:ahLst/>
            <a:cxnLst/>
            <a:rect r="r" b="b" t="t" l="l"/>
            <a:pathLst>
              <a:path h="2362200" w="2628900">
                <a:moveTo>
                  <a:pt x="0" y="0"/>
                </a:moveTo>
                <a:lnTo>
                  <a:pt x="2628900" y="0"/>
                </a:lnTo>
                <a:lnTo>
                  <a:pt x="26289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7200" y="6363652"/>
            <a:ext cx="217627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3"/>
              </a:lnSpc>
            </a:pPr>
            <a:r>
              <a:rPr lang="en-US" b="true" sz="19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COLLECT ALERTS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5216" y="6906432"/>
            <a:ext cx="1975104" cy="66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</a:pPr>
            <a:r>
              <a:rPr lang="en-US" sz="180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Ingest alerts from multiple sources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609850" y="47148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57550" y="3638550"/>
            <a:ext cx="2409825" cy="2362200"/>
          </a:xfrm>
          <a:custGeom>
            <a:avLst/>
            <a:gdLst/>
            <a:ahLst/>
            <a:cxnLst/>
            <a:rect r="r" b="b" t="t" l="l"/>
            <a:pathLst>
              <a:path h="2362200" w="2409825">
                <a:moveTo>
                  <a:pt x="0" y="0"/>
                </a:moveTo>
                <a:lnTo>
                  <a:pt x="2409825" y="0"/>
                </a:lnTo>
                <a:lnTo>
                  <a:pt x="24098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56432" y="6373177"/>
            <a:ext cx="215798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6"/>
              </a:lnSpc>
            </a:pPr>
            <a:r>
              <a:rPr lang="en-US" b="true" sz="191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NORMALIZE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01568" y="6924209"/>
            <a:ext cx="2231136" cy="62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Standardize and enrich incoming data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657850" y="47148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305550" y="3638550"/>
            <a:ext cx="2409825" cy="2362200"/>
          </a:xfrm>
          <a:custGeom>
            <a:avLst/>
            <a:gdLst/>
            <a:ahLst/>
            <a:cxnLst/>
            <a:rect r="r" b="b" t="t" l="l"/>
            <a:pathLst>
              <a:path h="2362200" w="2409825">
                <a:moveTo>
                  <a:pt x="0" y="0"/>
                </a:moveTo>
                <a:lnTo>
                  <a:pt x="2409825" y="0"/>
                </a:lnTo>
                <a:lnTo>
                  <a:pt x="24098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236208" y="6368415"/>
            <a:ext cx="246888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b="true" sz="186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CORRELATE EVENTS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01968" y="6906432"/>
            <a:ext cx="1737360" cy="66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</a:pPr>
            <a:r>
              <a:rPr lang="en-US" sz="180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Identify and link related events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486775" y="47148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144000" y="3638550"/>
            <a:ext cx="2400300" cy="2362200"/>
          </a:xfrm>
          <a:custGeom>
            <a:avLst/>
            <a:gdLst/>
            <a:ahLst/>
            <a:cxnLst/>
            <a:rect r="r" b="b" t="t" l="l"/>
            <a:pathLst>
              <a:path h="2362200" w="2400300">
                <a:moveTo>
                  <a:pt x="0" y="0"/>
                </a:moveTo>
                <a:lnTo>
                  <a:pt x="2400300" y="0"/>
                </a:lnTo>
                <a:lnTo>
                  <a:pt x="2400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582912" y="6373177"/>
            <a:ext cx="162763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6"/>
              </a:lnSpc>
            </a:pPr>
            <a:r>
              <a:rPr lang="en-US" b="true" sz="191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FILTER NOISE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72016" y="6865745"/>
            <a:ext cx="2231136" cy="1191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1"/>
              </a:lnSpc>
            </a:pPr>
            <a:r>
              <a:rPr lang="en-US" sz="193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Remove background noise and false positives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534775" y="47148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192000" y="3638550"/>
            <a:ext cx="2400300" cy="2362200"/>
          </a:xfrm>
          <a:custGeom>
            <a:avLst/>
            <a:gdLst/>
            <a:ahLst/>
            <a:cxnLst/>
            <a:rect r="r" b="b" t="t" l="l"/>
            <a:pathLst>
              <a:path h="2362200" w="2400300">
                <a:moveTo>
                  <a:pt x="0" y="0"/>
                </a:moveTo>
                <a:lnTo>
                  <a:pt x="2400300" y="0"/>
                </a:lnTo>
                <a:lnTo>
                  <a:pt x="2400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198096" y="6363652"/>
            <a:ext cx="223113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9"/>
              </a:lnSpc>
            </a:pPr>
            <a:r>
              <a:rPr lang="en-US" b="true" sz="189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MAP TECHNIQUES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35840" y="6913891"/>
            <a:ext cx="1755648" cy="110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3"/>
              </a:lnSpc>
            </a:pPr>
            <a:r>
              <a:rPr lang="en-US" sz="180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Map to attacker techniques and frameworks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363700" y="471487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020925" y="3638550"/>
            <a:ext cx="2400300" cy="2362200"/>
          </a:xfrm>
          <a:custGeom>
            <a:avLst/>
            <a:gdLst/>
            <a:ahLst/>
            <a:cxnLst/>
            <a:rect r="r" b="b" t="t" l="l"/>
            <a:pathLst>
              <a:path h="2362200" w="2400300">
                <a:moveTo>
                  <a:pt x="0" y="0"/>
                </a:moveTo>
                <a:lnTo>
                  <a:pt x="2400300" y="0"/>
                </a:lnTo>
                <a:lnTo>
                  <a:pt x="2400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4959584" y="6373177"/>
            <a:ext cx="267004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6"/>
              </a:lnSpc>
            </a:pPr>
            <a:r>
              <a:rPr lang="en-US" b="true" sz="191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PRIORITIZE &amp; REPORT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233904" y="6926765"/>
            <a:ext cx="2157984" cy="1079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8"/>
              </a:lnSpc>
            </a:pPr>
            <a:r>
              <a:rPr lang="en-US" sz="175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Generate prioritized BLUF reports for faster action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79392" y="3182874"/>
            <a:ext cx="42062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42048" y="3173349"/>
            <a:ext cx="42062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5"/>
              </a:lnSpc>
            </a:pPr>
            <a:r>
              <a:rPr lang="en-US" sz="251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68128" y="3173349"/>
            <a:ext cx="42062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5"/>
              </a:lnSpc>
            </a:pPr>
            <a:r>
              <a:rPr lang="en-US" sz="251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94208" y="3173349"/>
            <a:ext cx="42062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5"/>
              </a:lnSpc>
            </a:pPr>
            <a:r>
              <a:rPr lang="en-US" sz="251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038576" y="3178111"/>
            <a:ext cx="42062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0976" y="764477"/>
            <a:ext cx="5047488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6"/>
              </a:lnSpc>
            </a:pPr>
            <a:r>
              <a:rPr lang="en-US" sz="6455" spc="-193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Features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6775" y="1924050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775" y="2352675"/>
            <a:ext cx="5229225" cy="2362200"/>
          </a:xfrm>
          <a:custGeom>
            <a:avLst/>
            <a:gdLst/>
            <a:ahLst/>
            <a:cxnLst/>
            <a:rect r="r" b="b" t="t" l="l"/>
            <a:pathLst>
              <a:path h="2362200" w="5229225">
                <a:moveTo>
                  <a:pt x="0" y="0"/>
                </a:moveTo>
                <a:lnTo>
                  <a:pt x="5229225" y="0"/>
                </a:lnTo>
                <a:lnTo>
                  <a:pt x="52292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4925" y="278130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00400" y="2761488"/>
            <a:ext cx="213969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3"/>
              </a:lnSpc>
            </a:pPr>
            <a:r>
              <a:rPr lang="en-US" sz="2136" spc="-64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Multi-source Ingestion Engine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00400" y="3546473"/>
            <a:ext cx="2084832" cy="871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sz="168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Collects threats from many sources in real time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6775" y="4714875"/>
            <a:ext cx="5229225" cy="2571750"/>
          </a:xfrm>
          <a:custGeom>
            <a:avLst/>
            <a:gdLst/>
            <a:ahLst/>
            <a:cxnLst/>
            <a:rect r="r" b="b" t="t" l="l"/>
            <a:pathLst>
              <a:path h="2571750" w="5229225">
                <a:moveTo>
                  <a:pt x="0" y="0"/>
                </a:moveTo>
                <a:lnTo>
                  <a:pt x="5229225" y="0"/>
                </a:lnTo>
                <a:lnTo>
                  <a:pt x="522922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4925" y="514350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00400" y="5148072"/>
            <a:ext cx="133502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5"/>
              </a:lnSpc>
            </a:pPr>
            <a:r>
              <a:rPr lang="en-US" sz="2163" spc="-64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Threat Clustering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00400" y="5974134"/>
            <a:ext cx="2176272" cy="7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8"/>
              </a:lnSpc>
            </a:pPr>
            <a:r>
              <a:rPr lang="en-US" sz="154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Groups related threats to reveal patterns and campaigns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66775" y="7067550"/>
            <a:ext cx="5229225" cy="2581275"/>
          </a:xfrm>
          <a:custGeom>
            <a:avLst/>
            <a:gdLst/>
            <a:ahLst/>
            <a:cxnLst/>
            <a:rect r="r" b="b" t="t" l="l"/>
            <a:pathLst>
              <a:path h="2581275" w="5229225">
                <a:moveTo>
                  <a:pt x="0" y="0"/>
                </a:moveTo>
                <a:lnTo>
                  <a:pt x="5229225" y="0"/>
                </a:lnTo>
                <a:lnTo>
                  <a:pt x="52292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04925" y="7496175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200400" y="7514082"/>
            <a:ext cx="117043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3"/>
              </a:lnSpc>
            </a:pPr>
            <a:r>
              <a:rPr lang="en-US" sz="2136" spc="-64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REST API Support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00400" y="8303383"/>
            <a:ext cx="2139696" cy="853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65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Integrates seamlessly with your tools and workflows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096000" y="2352675"/>
            <a:ext cx="5448300" cy="2362200"/>
          </a:xfrm>
          <a:custGeom>
            <a:avLst/>
            <a:gdLst/>
            <a:ahLst/>
            <a:cxnLst/>
            <a:rect r="r" b="b" t="t" l="l"/>
            <a:pathLst>
              <a:path h="2362200" w="5448300">
                <a:moveTo>
                  <a:pt x="0" y="0"/>
                </a:moveTo>
                <a:lnTo>
                  <a:pt x="5448300" y="0"/>
                </a:lnTo>
                <a:lnTo>
                  <a:pt x="5448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524625" y="2781300"/>
            <a:ext cx="1752600" cy="1504950"/>
          </a:xfrm>
          <a:custGeom>
            <a:avLst/>
            <a:gdLst/>
            <a:ahLst/>
            <a:cxnLst/>
            <a:rect r="r" b="b" t="t" l="l"/>
            <a:pathLst>
              <a:path h="1504950" w="175260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467344" y="2761488"/>
            <a:ext cx="142646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109" spc="-63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Heuristic Correlation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67344" y="3546473"/>
            <a:ext cx="2267712" cy="871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sz="168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Connects related alerts using smart rules and behaviour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096000" y="4714875"/>
            <a:ext cx="5448300" cy="2571750"/>
          </a:xfrm>
          <a:custGeom>
            <a:avLst/>
            <a:gdLst/>
            <a:ahLst/>
            <a:cxnLst/>
            <a:rect r="r" b="b" t="t" l="l"/>
            <a:pathLst>
              <a:path h="2571750" w="5448300">
                <a:moveTo>
                  <a:pt x="0" y="0"/>
                </a:moveTo>
                <a:lnTo>
                  <a:pt x="5448300" y="0"/>
                </a:lnTo>
                <a:lnTo>
                  <a:pt x="54483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524625" y="5143500"/>
            <a:ext cx="1533525" cy="1714500"/>
          </a:xfrm>
          <a:custGeom>
            <a:avLst/>
            <a:gdLst/>
            <a:ahLst/>
            <a:cxnLst/>
            <a:rect r="r" b="b" t="t" l="l"/>
            <a:pathLst>
              <a:path h="1714500" w="1533525">
                <a:moveTo>
                  <a:pt x="0" y="0"/>
                </a:moveTo>
                <a:lnTo>
                  <a:pt x="1533525" y="0"/>
                </a:lnTo>
                <a:lnTo>
                  <a:pt x="153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967728" y="5581460"/>
            <a:ext cx="87782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6"/>
              </a:lnSpc>
            </a:pPr>
            <a:r>
              <a:rPr lang="en-US" b="true" sz="1780" spc="-5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MITRE ATT&amp;CK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67344" y="5119497"/>
            <a:ext cx="208483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2298" spc="-68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MITRE ATT&amp;CK Mapping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67344" y="5946452"/>
            <a:ext cx="1901952" cy="84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61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Maps threats to the MITRE ATT&amp;CK framework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6096000" y="7067550"/>
            <a:ext cx="5448300" cy="2581275"/>
          </a:xfrm>
          <a:custGeom>
            <a:avLst/>
            <a:gdLst/>
            <a:ahLst/>
            <a:cxnLst/>
            <a:rect r="r" b="b" t="t" l="l"/>
            <a:pathLst>
              <a:path h="2581275" w="5448300">
                <a:moveTo>
                  <a:pt x="0" y="0"/>
                </a:moveTo>
                <a:lnTo>
                  <a:pt x="5448300" y="0"/>
                </a:lnTo>
                <a:lnTo>
                  <a:pt x="54483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743700" y="7496175"/>
            <a:ext cx="1314450" cy="1724025"/>
          </a:xfrm>
          <a:custGeom>
            <a:avLst/>
            <a:gdLst/>
            <a:ahLst/>
            <a:cxnLst/>
            <a:rect r="r" b="b" t="t" l="l"/>
            <a:pathLst>
              <a:path h="1724025" w="1314450">
                <a:moveTo>
                  <a:pt x="0" y="0"/>
                </a:moveTo>
                <a:lnTo>
                  <a:pt x="1314450" y="0"/>
                </a:lnTo>
                <a:lnTo>
                  <a:pt x="13144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467344" y="7514082"/>
            <a:ext cx="133502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5"/>
              </a:lnSpc>
            </a:pPr>
            <a:r>
              <a:rPr lang="en-US" sz="2163" spc="-64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Security Hardening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467344" y="8312462"/>
            <a:ext cx="2139696" cy="84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61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Built with security, privacy and resilience at the core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1534775" y="2352675"/>
            <a:ext cx="5019675" cy="2362200"/>
          </a:xfrm>
          <a:custGeom>
            <a:avLst/>
            <a:gdLst/>
            <a:ahLst/>
            <a:cxnLst/>
            <a:rect r="r" b="b" t="t" l="l"/>
            <a:pathLst>
              <a:path h="2362200" w="5019675">
                <a:moveTo>
                  <a:pt x="0" y="0"/>
                </a:moveTo>
                <a:lnTo>
                  <a:pt x="5019675" y="0"/>
                </a:lnTo>
                <a:lnTo>
                  <a:pt x="50196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972925" y="2571750"/>
            <a:ext cx="1533525" cy="1714500"/>
          </a:xfrm>
          <a:custGeom>
            <a:avLst/>
            <a:gdLst/>
            <a:ahLst/>
            <a:cxnLst/>
            <a:rect r="r" b="b" t="t" l="l"/>
            <a:pathLst>
              <a:path h="1714500" w="1533525">
                <a:moveTo>
                  <a:pt x="0" y="0"/>
                </a:moveTo>
                <a:lnTo>
                  <a:pt x="1533525" y="0"/>
                </a:lnTo>
                <a:lnTo>
                  <a:pt x="153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307824" y="3185731"/>
            <a:ext cx="95097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9"/>
              </a:lnSpc>
            </a:pPr>
            <a:r>
              <a:rPr lang="en-US" b="true" sz="3724" spc="-111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85%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862304" y="2751963"/>
            <a:ext cx="213969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2"/>
              </a:lnSpc>
            </a:pPr>
            <a:r>
              <a:rPr lang="en-US" sz="2244" spc="-67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Over 85% Noise Reduction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862304" y="3546473"/>
            <a:ext cx="2267712" cy="871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sz="168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Filters out the noise so teams focus on what matters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1534775" y="4714875"/>
            <a:ext cx="5019675" cy="2571750"/>
          </a:xfrm>
          <a:custGeom>
            <a:avLst/>
            <a:gdLst/>
            <a:ahLst/>
            <a:cxnLst/>
            <a:rect r="r" b="b" t="t" l="l"/>
            <a:pathLst>
              <a:path h="2571750" w="5019675">
                <a:moveTo>
                  <a:pt x="0" y="0"/>
                </a:moveTo>
                <a:lnTo>
                  <a:pt x="5019675" y="0"/>
                </a:lnTo>
                <a:lnTo>
                  <a:pt x="50196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972925" y="5143500"/>
            <a:ext cx="1533525" cy="1714500"/>
          </a:xfrm>
          <a:custGeom>
            <a:avLst/>
            <a:gdLst/>
            <a:ahLst/>
            <a:cxnLst/>
            <a:rect r="r" b="b" t="t" l="l"/>
            <a:pathLst>
              <a:path h="1714500" w="1533525">
                <a:moveTo>
                  <a:pt x="0" y="0"/>
                </a:moveTo>
                <a:lnTo>
                  <a:pt x="1533525" y="0"/>
                </a:lnTo>
                <a:lnTo>
                  <a:pt x="153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3862304" y="5150358"/>
            <a:ext cx="173736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2298" spc="-68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BLUF Report Generation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862304" y="6177879"/>
            <a:ext cx="2450592" cy="38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Delivers clear, actionable summaries for fast decision-making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17552" y="5505069"/>
            <a:ext cx="62179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b="true" sz="1980" spc="-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BLUF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73936" y="7922704"/>
            <a:ext cx="54864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b="true" sz="2812" spc="-84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API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6384" y="877252"/>
            <a:ext cx="980236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3"/>
              </a:lnSpc>
            </a:pPr>
            <a:r>
              <a:rPr lang="en-US" sz="6394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Application / Use Cases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2352675"/>
            <a:ext cx="1971675" cy="219075"/>
          </a:xfrm>
          <a:custGeom>
            <a:avLst/>
            <a:gdLst/>
            <a:ahLst/>
            <a:cxnLst/>
            <a:rect r="r" b="b" t="t" l="l"/>
            <a:pathLst>
              <a:path h="219075" w="19716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6384" y="3156966"/>
            <a:ext cx="683971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5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BOB supports mission-critical teams across defence, intelligence, and national security.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048000" y="4286250"/>
            <a:ext cx="1095375" cy="1504950"/>
          </a:xfrm>
          <a:custGeom>
            <a:avLst/>
            <a:gdLst/>
            <a:ahLst/>
            <a:cxnLst/>
            <a:rect r="r" b="b" t="t" l="l"/>
            <a:pathLst>
              <a:path h="1504950" w="1095375">
                <a:moveTo>
                  <a:pt x="0" y="0"/>
                </a:moveTo>
                <a:lnTo>
                  <a:pt x="1095375" y="0"/>
                </a:lnTo>
                <a:lnTo>
                  <a:pt x="1095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38528" y="6058471"/>
            <a:ext cx="318211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6"/>
              </a:lnSpc>
            </a:pPr>
            <a:r>
              <a:rPr lang="en-US" b="true" sz="214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MILITARY OPERATIONS CENTERS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305550" y="4286250"/>
            <a:ext cx="228600" cy="2571750"/>
          </a:xfrm>
          <a:custGeom>
            <a:avLst/>
            <a:gdLst/>
            <a:ahLst/>
            <a:cxnLst/>
            <a:rect r="r" b="b" t="t" l="l"/>
            <a:pathLst>
              <a:path h="2571750" w="228600">
                <a:moveTo>
                  <a:pt x="0" y="0"/>
                </a:moveTo>
                <a:lnTo>
                  <a:pt x="228600" y="0"/>
                </a:lnTo>
                <a:lnTo>
                  <a:pt x="2286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86775" y="4286250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516368" y="6067996"/>
            <a:ext cx="325526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2"/>
              </a:lnSpc>
            </a:pPr>
            <a:r>
              <a:rPr lang="en-US" b="true" sz="211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SECURITY OPERATIONS CENTERS (SOC)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534775" y="4286250"/>
            <a:ext cx="447675" cy="2571750"/>
          </a:xfrm>
          <a:custGeom>
            <a:avLst/>
            <a:gdLst/>
            <a:ahLst/>
            <a:cxnLst/>
            <a:rect r="r" b="b" t="t" l="l"/>
            <a:pathLst>
              <a:path h="2571750" w="447675">
                <a:moveTo>
                  <a:pt x="0" y="0"/>
                </a:moveTo>
                <a:lnTo>
                  <a:pt x="447675" y="0"/>
                </a:lnTo>
                <a:lnTo>
                  <a:pt x="4476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496925" y="3638550"/>
            <a:ext cx="1962150" cy="1933575"/>
          </a:xfrm>
          <a:custGeom>
            <a:avLst/>
            <a:gdLst/>
            <a:ahLst/>
            <a:cxnLst/>
            <a:rect r="r" b="b" t="t" l="l"/>
            <a:pathLst>
              <a:path h="1933575" w="1962150">
                <a:moveTo>
                  <a:pt x="0" y="0"/>
                </a:moveTo>
                <a:lnTo>
                  <a:pt x="1962150" y="0"/>
                </a:lnTo>
                <a:lnTo>
                  <a:pt x="19621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38176" y="6020371"/>
            <a:ext cx="3310128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b="true" sz="23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SATELLITE MONITORING TEAMS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66775" y="6858000"/>
            <a:ext cx="16554450" cy="219075"/>
          </a:xfrm>
          <a:custGeom>
            <a:avLst/>
            <a:gdLst/>
            <a:ahLst/>
            <a:cxnLst/>
            <a:rect r="r" b="b" t="t" l="l"/>
            <a:pathLst>
              <a:path h="219075" w="16554450">
                <a:moveTo>
                  <a:pt x="0" y="0"/>
                </a:moveTo>
                <a:lnTo>
                  <a:pt x="16554450" y="0"/>
                </a:lnTo>
                <a:lnTo>
                  <a:pt x="1655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171700" y="7286625"/>
            <a:ext cx="2619375" cy="1504950"/>
          </a:xfrm>
          <a:custGeom>
            <a:avLst/>
            <a:gdLst/>
            <a:ahLst/>
            <a:cxnLst/>
            <a:rect r="r" b="b" t="t" l="l"/>
            <a:pathLst>
              <a:path h="1504950" w="2619375">
                <a:moveTo>
                  <a:pt x="0" y="0"/>
                </a:moveTo>
                <a:lnTo>
                  <a:pt x="2619375" y="0"/>
                </a:lnTo>
                <a:lnTo>
                  <a:pt x="261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72768" y="9020365"/>
            <a:ext cx="382219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2"/>
              </a:lnSpc>
            </a:pPr>
            <a:r>
              <a:rPr lang="en-US" b="true" sz="211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CRITICAL INFRASTRUCTURE PROTECTION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305550" y="6858000"/>
            <a:ext cx="228600" cy="2790825"/>
          </a:xfrm>
          <a:custGeom>
            <a:avLst/>
            <a:gdLst/>
            <a:ahLst/>
            <a:cxnLst/>
            <a:rect r="r" b="b" t="t" l="l"/>
            <a:pathLst>
              <a:path h="2790825" w="228600">
                <a:moveTo>
                  <a:pt x="0" y="0"/>
                </a:moveTo>
                <a:lnTo>
                  <a:pt x="228600" y="0"/>
                </a:lnTo>
                <a:lnTo>
                  <a:pt x="2286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267700" y="7286625"/>
            <a:ext cx="1752600" cy="1504950"/>
          </a:xfrm>
          <a:custGeom>
            <a:avLst/>
            <a:gdLst/>
            <a:ahLst/>
            <a:cxnLst/>
            <a:rect r="r" b="b" t="t" l="l"/>
            <a:pathLst>
              <a:path h="1504950" w="175260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132320" y="8972740"/>
            <a:ext cx="4005072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b="true" sz="23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GOVERNMENT INTELLIGENCE AGENCIES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534775" y="6858000"/>
            <a:ext cx="447675" cy="2790825"/>
          </a:xfrm>
          <a:custGeom>
            <a:avLst/>
            <a:gdLst/>
            <a:ahLst/>
            <a:cxnLst/>
            <a:rect r="r" b="b" t="t" l="l"/>
            <a:pathLst>
              <a:path h="2790825" w="447675">
                <a:moveTo>
                  <a:pt x="0" y="0"/>
                </a:moveTo>
                <a:lnTo>
                  <a:pt x="447675" y="0"/>
                </a:lnTo>
                <a:lnTo>
                  <a:pt x="4476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496925" y="7286625"/>
            <a:ext cx="1743075" cy="1504950"/>
          </a:xfrm>
          <a:custGeom>
            <a:avLst/>
            <a:gdLst/>
            <a:ahLst/>
            <a:cxnLst/>
            <a:rect r="r" b="b" t="t" l="l"/>
            <a:pathLst>
              <a:path h="1504950" w="1743075">
                <a:moveTo>
                  <a:pt x="0" y="0"/>
                </a:moveTo>
                <a:lnTo>
                  <a:pt x="1743075" y="0"/>
                </a:lnTo>
                <a:lnTo>
                  <a:pt x="1743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203936" y="8982266"/>
            <a:ext cx="245059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b="true" sz="228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NATIONAL CYBER DEFENSE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1248" y="533590"/>
            <a:ext cx="13405104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4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Documentation / Technical Overview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1495425"/>
            <a:ext cx="1971675" cy="438150"/>
          </a:xfrm>
          <a:custGeom>
            <a:avLst/>
            <a:gdLst/>
            <a:ahLst/>
            <a:cxnLst/>
            <a:rect r="r" b="b" t="t" l="l"/>
            <a:pathLst>
              <a:path h="438150" w="1971675">
                <a:moveTo>
                  <a:pt x="0" y="0"/>
                </a:moveTo>
                <a:lnTo>
                  <a:pt x="1971675" y="0"/>
                </a:lnTo>
                <a:lnTo>
                  <a:pt x="1971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90775" y="1924050"/>
            <a:ext cx="13287375" cy="1504950"/>
          </a:xfrm>
          <a:custGeom>
            <a:avLst/>
            <a:gdLst/>
            <a:ahLst/>
            <a:cxnLst/>
            <a:rect r="r" b="b" t="t" l="l"/>
            <a:pathLst>
              <a:path h="1504950" w="13287375">
                <a:moveTo>
                  <a:pt x="0" y="0"/>
                </a:moveTo>
                <a:lnTo>
                  <a:pt x="13287375" y="0"/>
                </a:lnTo>
                <a:lnTo>
                  <a:pt x="13287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17520" y="2524887"/>
            <a:ext cx="175564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458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FRONTEND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657850" y="2352675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20256" y="2553462"/>
            <a:ext cx="464515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221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HTML, CSS, JavaScript Dashboard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144000" y="3209925"/>
            <a:ext cx="438150" cy="866775"/>
          </a:xfrm>
          <a:custGeom>
            <a:avLst/>
            <a:gdLst/>
            <a:ahLst/>
            <a:cxnLst/>
            <a:rect r="r" b="b" t="t" l="l"/>
            <a:pathLst>
              <a:path h="866775" w="438150">
                <a:moveTo>
                  <a:pt x="0" y="0"/>
                </a:moveTo>
                <a:lnTo>
                  <a:pt x="438150" y="0"/>
                </a:lnTo>
                <a:lnTo>
                  <a:pt x="438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90775" y="3857625"/>
            <a:ext cx="13287375" cy="3429000"/>
          </a:xfrm>
          <a:custGeom>
            <a:avLst/>
            <a:gdLst/>
            <a:ahLst/>
            <a:cxnLst/>
            <a:rect r="r" b="b" t="t" l="l"/>
            <a:pathLst>
              <a:path h="3429000" w="13287375">
                <a:moveTo>
                  <a:pt x="0" y="0"/>
                </a:moveTo>
                <a:lnTo>
                  <a:pt x="13287375" y="0"/>
                </a:lnTo>
                <a:lnTo>
                  <a:pt x="1328737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17520" y="4272915"/>
            <a:ext cx="149961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0"/>
              </a:lnSpc>
            </a:pPr>
            <a:r>
              <a:rPr lang="en-US" sz="2367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BACKEND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657850" y="4067175"/>
            <a:ext cx="8934450" cy="1076325"/>
          </a:xfrm>
          <a:custGeom>
            <a:avLst/>
            <a:gdLst/>
            <a:ahLst/>
            <a:cxnLst/>
            <a:rect r="r" b="b" t="t" l="l"/>
            <a:pathLst>
              <a:path h="1076325" w="8934450">
                <a:moveTo>
                  <a:pt x="0" y="0"/>
                </a:moveTo>
                <a:lnTo>
                  <a:pt x="8934450" y="0"/>
                </a:lnTo>
                <a:lnTo>
                  <a:pt x="893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765792" y="4497705"/>
            <a:ext cx="10972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224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FastAPI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096000" y="5143500"/>
            <a:ext cx="8277225" cy="647700"/>
          </a:xfrm>
          <a:custGeom>
            <a:avLst/>
            <a:gdLst/>
            <a:ahLst/>
            <a:cxnLst/>
            <a:rect r="r" b="b" t="t" l="l"/>
            <a:pathLst>
              <a:path h="647700" w="8277225">
                <a:moveTo>
                  <a:pt x="0" y="0"/>
                </a:moveTo>
                <a:lnTo>
                  <a:pt x="8277225" y="0"/>
                </a:lnTo>
                <a:lnTo>
                  <a:pt x="827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000625" y="5572125"/>
            <a:ext cx="2619375" cy="1504950"/>
          </a:xfrm>
          <a:custGeom>
            <a:avLst/>
            <a:gdLst/>
            <a:ahLst/>
            <a:cxnLst/>
            <a:rect r="r" b="b" t="t" l="l"/>
            <a:pathLst>
              <a:path h="1504950" w="2619375">
                <a:moveTo>
                  <a:pt x="0" y="0"/>
                </a:moveTo>
                <a:lnTo>
                  <a:pt x="2619375" y="0"/>
                </a:lnTo>
                <a:lnTo>
                  <a:pt x="261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49824" y="5994654"/>
            <a:ext cx="1682496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2336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Correlation Engine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620000" y="5572125"/>
            <a:ext cx="2619375" cy="1504950"/>
          </a:xfrm>
          <a:custGeom>
            <a:avLst/>
            <a:gdLst/>
            <a:ahLst/>
            <a:cxnLst/>
            <a:rect r="r" b="b" t="t" l="l"/>
            <a:pathLst>
              <a:path h="1504950" w="2619375">
                <a:moveTo>
                  <a:pt x="0" y="0"/>
                </a:moveTo>
                <a:lnTo>
                  <a:pt x="2619375" y="0"/>
                </a:lnTo>
                <a:lnTo>
                  <a:pt x="261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229600" y="6023229"/>
            <a:ext cx="146304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224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BLUF Generator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229850" y="5572125"/>
            <a:ext cx="2619375" cy="1504950"/>
          </a:xfrm>
          <a:custGeom>
            <a:avLst/>
            <a:gdLst/>
            <a:ahLst/>
            <a:cxnLst/>
            <a:rect r="r" b="b" t="t" l="l"/>
            <a:pathLst>
              <a:path h="1504950" w="2619375">
                <a:moveTo>
                  <a:pt x="0" y="0"/>
                </a:moveTo>
                <a:lnTo>
                  <a:pt x="2619375" y="0"/>
                </a:lnTo>
                <a:lnTo>
                  <a:pt x="261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027664" y="6023229"/>
            <a:ext cx="109728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224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MITRE Mapper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839700" y="5572125"/>
            <a:ext cx="2619375" cy="1504950"/>
          </a:xfrm>
          <a:custGeom>
            <a:avLst/>
            <a:gdLst/>
            <a:ahLst/>
            <a:cxnLst/>
            <a:rect r="r" b="b" t="t" l="l"/>
            <a:pathLst>
              <a:path h="1504950" w="2619375">
                <a:moveTo>
                  <a:pt x="0" y="0"/>
                </a:moveTo>
                <a:lnTo>
                  <a:pt x="2619375" y="0"/>
                </a:lnTo>
                <a:lnTo>
                  <a:pt x="261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752576" y="6004179"/>
            <a:ext cx="768096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27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REST APIs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144000" y="7067550"/>
            <a:ext cx="438150" cy="866775"/>
          </a:xfrm>
          <a:custGeom>
            <a:avLst/>
            <a:gdLst/>
            <a:ahLst/>
            <a:cxnLst/>
            <a:rect r="r" b="b" t="t" l="l"/>
            <a:pathLst>
              <a:path h="866775" w="438150">
                <a:moveTo>
                  <a:pt x="0" y="0"/>
                </a:moveTo>
                <a:lnTo>
                  <a:pt x="438150" y="0"/>
                </a:lnTo>
                <a:lnTo>
                  <a:pt x="438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390775" y="7715250"/>
            <a:ext cx="13287375" cy="1933575"/>
          </a:xfrm>
          <a:custGeom>
            <a:avLst/>
            <a:gdLst/>
            <a:ahLst/>
            <a:cxnLst/>
            <a:rect r="r" b="b" t="t" l="l"/>
            <a:pathLst>
              <a:path h="1933575" w="13287375">
                <a:moveTo>
                  <a:pt x="0" y="0"/>
                </a:moveTo>
                <a:lnTo>
                  <a:pt x="13287375" y="0"/>
                </a:lnTo>
                <a:lnTo>
                  <a:pt x="132873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017520" y="8360664"/>
            <a:ext cx="2231136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6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OTHER COMPONENTS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5657850" y="7924800"/>
            <a:ext cx="2619375" cy="1504950"/>
          </a:xfrm>
          <a:custGeom>
            <a:avLst/>
            <a:gdLst/>
            <a:ahLst/>
            <a:cxnLst/>
            <a:rect r="r" b="b" t="t" l="l"/>
            <a:pathLst>
              <a:path h="1504950" w="2619375">
                <a:moveTo>
                  <a:pt x="0" y="0"/>
                </a:moveTo>
                <a:lnTo>
                  <a:pt x="2619375" y="0"/>
                </a:lnTo>
                <a:lnTo>
                  <a:pt x="261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382512" y="8370189"/>
            <a:ext cx="138988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27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Feed Simulator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486775" y="7924800"/>
            <a:ext cx="2619375" cy="1504950"/>
          </a:xfrm>
          <a:custGeom>
            <a:avLst/>
            <a:gdLst/>
            <a:ahLst/>
            <a:cxnLst/>
            <a:rect r="r" b="b" t="t" l="l"/>
            <a:pathLst>
              <a:path h="1504950" w="2619375">
                <a:moveTo>
                  <a:pt x="0" y="0"/>
                </a:moveTo>
                <a:lnTo>
                  <a:pt x="2619375" y="0"/>
                </a:lnTo>
                <a:lnTo>
                  <a:pt x="261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253728" y="8360664"/>
            <a:ext cx="1261872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0"/>
              </a:lnSpc>
            </a:pPr>
            <a:r>
              <a:rPr lang="en-US" sz="2367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Security Module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1315700" y="7924800"/>
            <a:ext cx="2619375" cy="1504950"/>
          </a:xfrm>
          <a:custGeom>
            <a:avLst/>
            <a:gdLst/>
            <a:ahLst/>
            <a:cxnLst/>
            <a:rect r="r" b="b" t="t" l="l"/>
            <a:pathLst>
              <a:path h="1504950" w="2619375">
                <a:moveTo>
                  <a:pt x="0" y="0"/>
                </a:moveTo>
                <a:lnTo>
                  <a:pt x="2619375" y="0"/>
                </a:lnTo>
                <a:lnTo>
                  <a:pt x="261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124944" y="8389239"/>
            <a:ext cx="1060704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7"/>
              </a:lnSpc>
            </a:pPr>
            <a:r>
              <a:rPr lang="en-US" sz="2214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Unit Testing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1520" y="1147492"/>
            <a:ext cx="8942832" cy="187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2"/>
              </a:lnSpc>
            </a:pPr>
            <a:r>
              <a:rPr lang="en-US" sz="6445" spc="-128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Security &amp; Intelligence Capabilities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3429000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68000" y="1924050"/>
            <a:ext cx="5667375" cy="6438900"/>
          </a:xfrm>
          <a:custGeom>
            <a:avLst/>
            <a:gdLst/>
            <a:ahLst/>
            <a:cxnLst/>
            <a:rect r="r" b="b" t="t" l="l"/>
            <a:pathLst>
              <a:path h="6438900" w="5667375">
                <a:moveTo>
                  <a:pt x="0" y="0"/>
                </a:moveTo>
                <a:lnTo>
                  <a:pt x="5667375" y="0"/>
                </a:lnTo>
                <a:lnTo>
                  <a:pt x="5667375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34775" y="2781300"/>
            <a:ext cx="3924300" cy="4933950"/>
          </a:xfrm>
          <a:custGeom>
            <a:avLst/>
            <a:gdLst/>
            <a:ahLst/>
            <a:cxnLst/>
            <a:rect r="r" b="b" t="t" l="l"/>
            <a:pathLst>
              <a:path h="4933950" w="3924300">
                <a:moveTo>
                  <a:pt x="0" y="0"/>
                </a:moveTo>
                <a:lnTo>
                  <a:pt x="3924300" y="0"/>
                </a:lnTo>
                <a:lnTo>
                  <a:pt x="392430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39700" y="3638550"/>
            <a:ext cx="1533525" cy="1933575"/>
          </a:xfrm>
          <a:custGeom>
            <a:avLst/>
            <a:gdLst/>
            <a:ahLst/>
            <a:cxnLst/>
            <a:rect r="r" b="b" t="t" l="l"/>
            <a:pathLst>
              <a:path h="1933575" w="1533525">
                <a:moveTo>
                  <a:pt x="0" y="0"/>
                </a:moveTo>
                <a:lnTo>
                  <a:pt x="1533525" y="0"/>
                </a:lnTo>
                <a:lnTo>
                  <a:pt x="1533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673584" y="5903595"/>
            <a:ext cx="177393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b="true" sz="249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SECURE BY DESIGN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38176" y="1412938"/>
            <a:ext cx="14630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57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INPUT SANITIZATION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74352" y="3666554"/>
            <a:ext cx="9509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b="true" sz="165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RATE LIMITING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45168" y="6445567"/>
            <a:ext cx="146304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b="true" sz="168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SECURE</a:t>
            </a:r>
          </a:p>
          <a:p>
            <a:pPr algn="r">
              <a:lnSpc>
                <a:spcPts val="2025"/>
              </a:lnSpc>
            </a:pPr>
            <a:r>
              <a:rPr lang="en-US" b="true" sz="168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SERVER-SIDE PROCESSING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22624" y="3388043"/>
            <a:ext cx="13533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XSS PROTECTION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75152" y="6898195"/>
            <a:ext cx="166420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SQL INJECTION PROTECTION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464" y="8533829"/>
            <a:ext cx="140817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b="true" sz="168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COMMAND INJECTION PREVENTION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229850" y="4495800"/>
            <a:ext cx="438150" cy="1724025"/>
          </a:xfrm>
          <a:custGeom>
            <a:avLst/>
            <a:gdLst/>
            <a:ahLst/>
            <a:cxnLst/>
            <a:rect r="r" b="b" t="t" l="l"/>
            <a:pathLst>
              <a:path h="1724025" w="438150">
                <a:moveTo>
                  <a:pt x="0" y="0"/>
                </a:moveTo>
                <a:lnTo>
                  <a:pt x="438150" y="0"/>
                </a:lnTo>
                <a:lnTo>
                  <a:pt x="4381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325850" y="4067175"/>
            <a:ext cx="438150" cy="2581275"/>
          </a:xfrm>
          <a:custGeom>
            <a:avLst/>
            <a:gdLst/>
            <a:ahLst/>
            <a:cxnLst/>
            <a:rect r="r" b="b" t="t" l="l"/>
            <a:pathLst>
              <a:path h="2581275" w="438150">
                <a:moveTo>
                  <a:pt x="0" y="0"/>
                </a:moveTo>
                <a:lnTo>
                  <a:pt x="438150" y="0"/>
                </a:lnTo>
                <a:lnTo>
                  <a:pt x="43815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496925" y="2143125"/>
            <a:ext cx="219075" cy="647700"/>
          </a:xfrm>
          <a:custGeom>
            <a:avLst/>
            <a:gdLst/>
            <a:ahLst/>
            <a:cxnLst/>
            <a:rect r="r" b="b" t="t" l="l"/>
            <a:pathLst>
              <a:path h="647700" w="219075">
                <a:moveTo>
                  <a:pt x="0" y="0"/>
                </a:moveTo>
                <a:lnTo>
                  <a:pt x="219075" y="0"/>
                </a:lnTo>
                <a:lnTo>
                  <a:pt x="2190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496925" y="7715250"/>
            <a:ext cx="219075" cy="647700"/>
          </a:xfrm>
          <a:custGeom>
            <a:avLst/>
            <a:gdLst/>
            <a:ahLst/>
            <a:cxnLst/>
            <a:rect r="r" b="b" t="t" l="l"/>
            <a:pathLst>
              <a:path h="647700" w="219075">
                <a:moveTo>
                  <a:pt x="0" y="0"/>
                </a:moveTo>
                <a:lnTo>
                  <a:pt x="219075" y="0"/>
                </a:lnTo>
                <a:lnTo>
                  <a:pt x="2190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31520" y="4328089"/>
            <a:ext cx="5157216" cy="399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7"/>
              </a:lnSpc>
            </a:pPr>
            <a:r>
              <a:rPr lang="en-US" sz="22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Input validation and sanitization</a:t>
            </a:r>
          </a:p>
          <a:p>
            <a:pPr algn="l">
              <a:lnSpc>
                <a:spcPts val="3547"/>
              </a:lnSpc>
            </a:pPr>
          </a:p>
          <a:p>
            <a:pPr algn="l">
              <a:lnSpc>
                <a:spcPts val="3547"/>
              </a:lnSpc>
            </a:pPr>
            <a:r>
              <a:rPr lang="en-US" sz="22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Protection against XSS attacks</a:t>
            </a:r>
          </a:p>
          <a:p>
            <a:pPr algn="l">
              <a:lnSpc>
                <a:spcPts val="3547"/>
              </a:lnSpc>
            </a:pPr>
          </a:p>
          <a:p>
            <a:pPr algn="l">
              <a:lnSpc>
                <a:spcPts val="3547"/>
              </a:lnSpc>
            </a:pPr>
            <a:r>
              <a:rPr lang="en-US" sz="22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SQL injection protection</a:t>
            </a:r>
          </a:p>
          <a:p>
            <a:pPr algn="l">
              <a:lnSpc>
                <a:spcPts val="3547"/>
              </a:lnSpc>
            </a:pPr>
          </a:p>
          <a:p>
            <a:pPr algn="l">
              <a:lnSpc>
                <a:spcPts val="3547"/>
              </a:lnSpc>
            </a:pPr>
            <a:r>
              <a:rPr lang="en-US" sz="22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Command injection prevention</a:t>
            </a:r>
          </a:p>
          <a:p>
            <a:pPr algn="l">
              <a:lnSpc>
                <a:spcPts val="3547"/>
              </a:lnSpc>
            </a:pPr>
          </a:p>
          <a:p>
            <a:pPr algn="l">
              <a:lnSpc>
                <a:spcPts val="3547"/>
              </a:lnSpc>
            </a:pPr>
            <a:r>
              <a:rPr lang="en-US" sz="22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Rate limiting and secure processing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171468"/>
            <a:ext cx="4718304" cy="90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8"/>
              </a:lnSpc>
            </a:pPr>
            <a:r>
              <a:rPr lang="en-US" sz="6848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Limitations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6775" y="2352675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4000" y="3429000"/>
            <a:ext cx="5010150" cy="4286250"/>
          </a:xfrm>
          <a:custGeom>
            <a:avLst/>
            <a:gdLst/>
            <a:ahLst/>
            <a:cxnLst/>
            <a:rect r="r" b="b" t="t" l="l"/>
            <a:pathLst>
              <a:path h="4286250" w="5010150">
                <a:moveTo>
                  <a:pt x="0" y="0"/>
                </a:moveTo>
                <a:lnTo>
                  <a:pt x="5010150" y="0"/>
                </a:lnTo>
                <a:lnTo>
                  <a:pt x="5010150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9700" y="2352675"/>
            <a:ext cx="3714750" cy="2581275"/>
          </a:xfrm>
          <a:custGeom>
            <a:avLst/>
            <a:gdLst/>
            <a:ahLst/>
            <a:cxnLst/>
            <a:rect r="r" b="b" t="t" l="l"/>
            <a:pathLst>
              <a:path h="2581275" w="3714750">
                <a:moveTo>
                  <a:pt x="0" y="0"/>
                </a:moveTo>
                <a:lnTo>
                  <a:pt x="3714750" y="0"/>
                </a:lnTo>
                <a:lnTo>
                  <a:pt x="371475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0" y="2427541"/>
            <a:ext cx="610819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26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Uses simulated threat feeds currently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438775" y="3638550"/>
            <a:ext cx="3495675" cy="1724025"/>
          </a:xfrm>
          <a:custGeom>
            <a:avLst/>
            <a:gdLst/>
            <a:ahLst/>
            <a:cxnLst/>
            <a:rect r="r" b="b" t="t" l="l"/>
            <a:pathLst>
              <a:path h="1724025" w="3495675">
                <a:moveTo>
                  <a:pt x="0" y="0"/>
                </a:moveTo>
                <a:lnTo>
                  <a:pt x="3495675" y="0"/>
                </a:lnTo>
                <a:lnTo>
                  <a:pt x="34956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44000" y="3590734"/>
            <a:ext cx="735177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9"/>
              </a:lnSpc>
            </a:pPr>
            <a:r>
              <a:rPr lang="en-US" sz="26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Real-world integration needs enterprise APIs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657850" y="4714875"/>
            <a:ext cx="3276600" cy="1285875"/>
          </a:xfrm>
          <a:custGeom>
            <a:avLst/>
            <a:gdLst/>
            <a:ahLst/>
            <a:cxnLst/>
            <a:rect r="r" b="b" t="t" l="l"/>
            <a:pathLst>
              <a:path h="1285875" w="3276600">
                <a:moveTo>
                  <a:pt x="0" y="0"/>
                </a:moveTo>
                <a:lnTo>
                  <a:pt x="3276600" y="0"/>
                </a:lnTo>
                <a:lnTo>
                  <a:pt x="3276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44000" y="4772978"/>
            <a:ext cx="555955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26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Accuracy depends on feed quality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096000" y="6000750"/>
            <a:ext cx="2838450" cy="428625"/>
          </a:xfrm>
          <a:custGeom>
            <a:avLst/>
            <a:gdLst/>
            <a:ahLst/>
            <a:cxnLst/>
            <a:rect r="r" b="b" t="t" l="l"/>
            <a:pathLst>
              <a:path h="428625" w="2838450">
                <a:moveTo>
                  <a:pt x="0" y="0"/>
                </a:moveTo>
                <a:lnTo>
                  <a:pt x="2838450" y="0"/>
                </a:lnTo>
                <a:lnTo>
                  <a:pt x="2838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144000" y="5945695"/>
            <a:ext cx="508406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26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Limited live deployment testing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305550" y="6638925"/>
            <a:ext cx="2628900" cy="866775"/>
          </a:xfrm>
          <a:custGeom>
            <a:avLst/>
            <a:gdLst/>
            <a:ahLst/>
            <a:cxnLst/>
            <a:rect r="r" b="b" t="t" l="l"/>
            <a:pathLst>
              <a:path h="866775" w="2628900">
                <a:moveTo>
                  <a:pt x="0" y="0"/>
                </a:moveTo>
                <a:lnTo>
                  <a:pt x="2628900" y="0"/>
                </a:lnTo>
                <a:lnTo>
                  <a:pt x="26289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144000" y="7108888"/>
            <a:ext cx="687628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9"/>
              </a:lnSpc>
            </a:pPr>
            <a:r>
              <a:rPr lang="en-US" sz="26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Advanced AI correlation can be expanded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096000" y="7496175"/>
            <a:ext cx="2838450" cy="1295400"/>
          </a:xfrm>
          <a:custGeom>
            <a:avLst/>
            <a:gdLst/>
            <a:ahLst/>
            <a:cxnLst/>
            <a:rect r="r" b="b" t="t" l="l"/>
            <a:pathLst>
              <a:path h="1295400" w="2838450">
                <a:moveTo>
                  <a:pt x="0" y="0"/>
                </a:moveTo>
                <a:lnTo>
                  <a:pt x="2838450" y="0"/>
                </a:lnTo>
                <a:lnTo>
                  <a:pt x="2838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144000" y="8295894"/>
            <a:ext cx="769924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Requires continuous threat intelligence updates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1248" y="984409"/>
            <a:ext cx="4864608" cy="827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5"/>
              </a:lnSpc>
            </a:pPr>
            <a:r>
              <a:rPr lang="en-US" sz="7293" spc="-291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6775" y="2143125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96112" y="2797778"/>
            <a:ext cx="5084064" cy="446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266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BOB reduces analyst workload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6112" y="3451860"/>
            <a:ext cx="477316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Improves threat prioritization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6112" y="4120515"/>
            <a:ext cx="638251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Supports faster commander decisions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6112" y="4757848"/>
            <a:ext cx="6693408" cy="100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88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Combines multiple intelligence sources in one platform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112" y="6486668"/>
            <a:ext cx="3657600" cy="371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231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FUTURE ENHANCEMENTS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6775" y="6858000"/>
            <a:ext cx="3495675" cy="219075"/>
          </a:xfrm>
          <a:custGeom>
            <a:avLst/>
            <a:gdLst/>
            <a:ahLst/>
            <a:cxnLst/>
            <a:rect r="r" b="b" t="t" l="l"/>
            <a:pathLst>
              <a:path h="219075" w="3495675">
                <a:moveTo>
                  <a:pt x="0" y="0"/>
                </a:moveTo>
                <a:lnTo>
                  <a:pt x="3495675" y="0"/>
                </a:lnTo>
                <a:lnTo>
                  <a:pt x="3495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1066800"/>
            <a:ext cx="6972300" cy="5581650"/>
          </a:xfrm>
          <a:custGeom>
            <a:avLst/>
            <a:gdLst/>
            <a:ahLst/>
            <a:cxnLst/>
            <a:rect r="r" b="b" t="t" l="l"/>
            <a:pathLst>
              <a:path h="5581650" w="6972300">
                <a:moveTo>
                  <a:pt x="0" y="0"/>
                </a:moveTo>
                <a:lnTo>
                  <a:pt x="6972300" y="0"/>
                </a:lnTo>
                <a:lnTo>
                  <a:pt x="6972300" y="5581650"/>
                </a:lnTo>
                <a:lnTo>
                  <a:pt x="0" y="55816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44000" y="7241137"/>
            <a:ext cx="7882128" cy="1444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4"/>
              </a:lnSpc>
            </a:pPr>
            <a:r>
              <a:rPr lang="en-US" sz="12680" spc="-507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6112" y="7321618"/>
            <a:ext cx="3986784" cy="1905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6"/>
              </a:lnSpc>
            </a:pPr>
            <a:r>
              <a:rPr lang="en-US" sz="243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Live SIEM integration</a:t>
            </a:r>
          </a:p>
          <a:p>
            <a:pPr algn="l">
              <a:lnSpc>
                <a:spcPts val="3896"/>
              </a:lnSpc>
            </a:pPr>
            <a:r>
              <a:rPr lang="en-US" sz="243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AI-powered prediction</a:t>
            </a:r>
          </a:p>
          <a:p>
            <a:pPr algn="l">
              <a:lnSpc>
                <a:spcPts val="3896"/>
              </a:lnSpc>
            </a:pPr>
            <a:r>
              <a:rPr lang="en-US" sz="243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Real-time satellite feeds</a:t>
            </a:r>
          </a:p>
          <a:p>
            <a:pPr algn="l">
              <a:lnSpc>
                <a:spcPts val="3896"/>
              </a:lnSpc>
            </a:pPr>
            <a:r>
              <a:rPr lang="en-US" sz="243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Advanced MITRE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DAHVRDgv6JM</dc:identifier>
  <dcterms:modified xsi:type="dcterms:W3CDTF">2011-08-01T06:04:30Z</dcterms:modified>
  <cp:revision>1</cp:revision>
  <dc:title>BOB Threat Intelligence</dc:title>
</cp:coreProperties>
</file>